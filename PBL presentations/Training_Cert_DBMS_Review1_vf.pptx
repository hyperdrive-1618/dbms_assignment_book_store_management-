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– PBL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9144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Training Programme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and Certification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Management System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74904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640080" y="3840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640080" y="40416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K Anirudh Pratap Singh Sambyal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0080" y="43159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AIML RHINOS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40080" y="451713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25WU0102111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eautify as image"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WHAT IS THE PROJECT?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457200" y="1097280"/>
            <a:ext cx="4114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Training Programme and Certification Management System is a database-based system designed to manage the complete training and certification process. It helps training centres manage enrolments, sessions, assessments and certificate issuance in an organized, centralized manner.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846320" y="1005840"/>
            <a:ext cx="4023360" cy="36576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074920" y="11430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The system maintains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information about: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74920" y="175564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257800" y="16916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Courses &amp; Modules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949440" y="175564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7132320" y="16916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74920" y="239572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5257800" y="23317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Batches &amp; Learners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949440" y="239572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7132320" y="23317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74920" y="303580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5257800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Sessions &amp; Attendance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949440" y="303580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7132320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Assessments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74920" y="367588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5257800" y="36118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Certificates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949440" y="367588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7132320" y="36118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Renewals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EXISTING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457200" y="10515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 many training centres, programme information is managed using spreadsheets, documents or separate registers. This can lead to: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93852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621792" y="18745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Difficulty managing large numbers of learners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235000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621792" y="2286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Duplicate or incorrect enrolment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276148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21792" y="2697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Incorrect certificate eligibility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317296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621792" y="31089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Difficulty tracking session attendance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358444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621792" y="3520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Difficulty monitoring assessments and scores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399592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621792" y="39319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Time-consuming report and certificate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46320" y="1005840"/>
            <a:ext cx="4023360" cy="3840480"/>
          </a:xfrm>
          <a:prstGeom prst="roundRect">
            <a:avLst>
              <a:gd fmla="val 4286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5074920" y="11887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5074920" y="150876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develop a centralized database management system that efficiently manages courses, batches, trainers, enrolments, sessions, attendance, assessments, certificates and renewals.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systems make it difficult to enforce certificate eligibility and maintain consistent training records.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MAIN OBJECTIVES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1051560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94360" y="1252728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576072" y="1207008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841248" y="11430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Maintain a centralized database of training programme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1764792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94360" y="1965960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576072" y="1920240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841248" y="185623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Manage trainer and batch information efficiently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2478024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94360" y="2679192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576072" y="2633472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841248" y="256946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Handle learner enrolments and batch-capacity 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191256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94360" y="3392424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576072" y="33467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841248" y="328269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Track session schedules and attendance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3904488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94360" y="4105656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576072" y="4059936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841248" y="399592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Record assessment scores and evaluate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846320" y="1051560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983480" y="1252728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4965192" y="1207008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5230368" y="11430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Enforce certificate eligibility based on attendance and scores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46320" y="1764792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983480" y="1965960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4965192" y="1920240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5230368" y="185623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Issue and track unique certificate numbers and renewals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846320" y="2478024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983480" y="2679192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4965192" y="2633472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230368" y="256946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Generate useful training and performance reports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846320" y="3191256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983480" y="3392424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4965192" y="3346704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230368" y="328269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Reduce duplicate and incorrect data entries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846320" y="3904488"/>
            <a:ext cx="41148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983480" y="4105656"/>
            <a:ext cx="164592" cy="16459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4965192" y="4059936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5230368" y="399592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Improve the efficiency of the certification 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THE SYSTEM WILL COVER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Scope of the Project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0040" y="1051560"/>
            <a:ext cx="4114800" cy="1691640"/>
          </a:xfrm>
          <a:prstGeom prst="roundRect">
            <a:avLst>
              <a:gd fmla="val 8108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502920" y="116128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&amp; Trainer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02920" y="159105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667512" y="15270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Course details &amp; modules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195681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667512" y="18928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Trainer profiles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02920" y="23225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667512" y="22585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Batch setup &amp; 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4937760" y="116128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Learner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937760" y="159105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5102352" y="15270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 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937760" y="195681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5102352" y="18928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Enrolment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937760" y="23225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5102352" y="22585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Attendance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20040" y="2880360"/>
            <a:ext cx="4114800" cy="1691640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502920" y="299008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Assessment &amp; Certification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02920" y="341985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667512" y="33558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Assessment scheduling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2920" y="378561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667512" y="37216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Score recording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41513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667512" y="40873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Certificate issuance &amp; renewal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54880" y="2880360"/>
            <a:ext cx="4114800" cy="1691640"/>
          </a:xfrm>
          <a:prstGeom prst="roundRect">
            <a:avLst>
              <a:gd fmla="val 8108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4937760" y="299008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937760" y="341985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5102352" y="335584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Batch &amp; attendance reports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937760" y="378561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5102352" y="37216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Performance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937760" y="41513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5102352" y="40873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Fee &amp; certificate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EXISTING APPROACHES VS PROPOSED SYSTEM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20040" y="1097280"/>
            <a:ext cx="4114800" cy="356616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502920" y="1234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Existing Approach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2514600" y="12344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11480" y="1563624"/>
            <a:ext cx="3886200" cy="47548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F5F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50292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Manual registers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2514600" y="16002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4444"/>
                </a:solidFill>
                <a:latin typeface="Calibri"/>
                <a:ea typeface="Calibri"/>
                <a:cs typeface="Calibri"/>
                <a:sym typeface="Calibri"/>
              </a:rPr>
              <a:t>Time-consuming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11480" y="2112264"/>
            <a:ext cx="38862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50292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Excel spreadsheets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2514600" y="21488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4444"/>
                </a:solidFill>
                <a:latin typeface="Calibri"/>
                <a:ea typeface="Calibri"/>
                <a:cs typeface="Calibri"/>
                <a:sym typeface="Calibri"/>
              </a:rPr>
              <a:t>Data duplication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11480" y="2660904"/>
            <a:ext cx="3886200" cy="47548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F5F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502920" y="2697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Separate learner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2514600" y="2697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4444"/>
                </a:solidFill>
                <a:latin typeface="Calibri"/>
                <a:ea typeface="Calibri"/>
                <a:cs typeface="Calibri"/>
                <a:sym typeface="Calibri"/>
              </a:rPr>
              <a:t>Hard to integrate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11480" y="3209544"/>
            <a:ext cx="38862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50292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Manual eligibility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2514600" y="32461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4444"/>
                </a:solidFill>
                <a:latin typeface="Calibri"/>
                <a:ea typeface="Calibri"/>
                <a:cs typeface="Calibri"/>
                <a:sym typeface="Calibri"/>
              </a:rPr>
              <a:t>Possibility of errors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11480" y="3758184"/>
            <a:ext cx="3886200" cy="475488"/>
          </a:xfrm>
          <a:prstGeom prst="rect">
            <a:avLst/>
          </a:prstGeom>
          <a:solidFill>
            <a:srgbClr val="F5FAF8"/>
          </a:solidFill>
          <a:ln cap="flat" cmpd="sng" w="12700">
            <a:solidFill>
              <a:srgbClr val="F5F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502920" y="37947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Manual certificates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2514600" y="379476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4444"/>
                </a:solidFill>
                <a:latin typeface="Calibri"/>
                <a:ea typeface="Calibri"/>
                <a:cs typeface="Calibri"/>
                <a:sym typeface="Calibri"/>
              </a:rPr>
              <a:t>Inconsistency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754880" y="1097280"/>
            <a:ext cx="4114800" cy="3566160"/>
          </a:xfrm>
          <a:prstGeom prst="roundRect">
            <a:avLst>
              <a:gd fmla="val 3846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4937760" y="12344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PROPOSED SYSTEM PROVIDES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37760" y="1700784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5120640" y="162763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Centralized training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937760" y="2212848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120640" y="213969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eligibility enforcement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937760" y="2724912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5120640" y="26517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relational schema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937760" y="3236976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5120640" y="31638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learner &amp; batch searching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937760" y="3749040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5120640" y="367588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data integrity &amp; consistency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37760" y="4261104"/>
            <a:ext cx="118872" cy="118872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5120640" y="418795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certificate &amp; report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320040" y="475488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Conclusion: Existing approaches can manage basic data, but a centralized relational database provides better organization, consistency and efficient retrieval of training and certification records.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20040" y="141732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320040" y="141732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Setup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1837944" y="155448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148840" y="141732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2148840" y="141732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 Creation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3666744" y="155448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977640" y="141732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3977640" y="141732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Learner Registration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5495544" y="155448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806440" y="141732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5806440" y="141732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7324344" y="155448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635240" y="141732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7635240" y="141732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Eligibility Check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4297680" y="21031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635240" y="260604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7635240" y="260604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Scheduling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7370064" y="274320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806440" y="260604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5806440" y="260604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Attendance Entry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5541264" y="274320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977640" y="260604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977640" y="260604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3712464" y="274320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148840" y="260604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2148840" y="260604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Score Recording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1883664" y="2743200"/>
            <a:ext cx="256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20040" y="2606040"/>
            <a:ext cx="1508760" cy="594360"/>
          </a:xfrm>
          <a:prstGeom prst="roundRect">
            <a:avLst>
              <a:gd fmla="val 15385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320040" y="2606040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Issue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This workflow illustrates the complete journey — from setting up a course and batch through to issuing a certificate — and is well suited for verbal explanation during the review.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THREE TYPES OF USERS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Users of the 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20040" y="1051560"/>
            <a:ext cx="2743200" cy="39319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1325880" y="1188720"/>
            <a:ext cx="731520" cy="7315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1325880" y="120700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11480" y="2103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Training Administrator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417320" y="2450592"/>
            <a:ext cx="548640" cy="36576"/>
          </a:xfrm>
          <a:prstGeom prst="rect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84632" y="2679192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630936" y="2606040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Manage courses and modules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4632" y="3072384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630936" y="2999232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Set up batches and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84632" y="34655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630936" y="3392424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Assign trainers to batches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84632" y="385876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630936" y="3785616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Define eligibility criteria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84632" y="4251960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630936" y="4178808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Issue and track certificates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84632" y="4645152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630936" y="4572000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results and generate reports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246120" y="1051560"/>
            <a:ext cx="2743200" cy="39319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251960" y="1188720"/>
            <a:ext cx="731520" cy="73152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4251960" y="120700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3337560" y="2103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343400" y="2450592"/>
            <a:ext cx="548640" cy="36576"/>
          </a:xfrm>
          <a:prstGeom prst="rect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3410712" y="2679192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3557016" y="2606040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available batches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410712" y="3072384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3557016" y="2999232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Check eligibility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410712" y="34655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3557016" y="3392424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 in programmes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410712" y="385876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3557016" y="3785616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attendance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410712" y="4251960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3557016" y="4178808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assessment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410712" y="4645152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3557016" y="4572000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issued certificates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172200" y="1051560"/>
            <a:ext cx="2743200" cy="39319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7178040" y="1188720"/>
            <a:ext cx="731520" cy="7315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7178040" y="120700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6263640" y="2103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269480" y="2450592"/>
            <a:ext cx="548640" cy="36576"/>
          </a:xfrm>
          <a:prstGeom prst="rect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336792" y="2679192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6483096" y="2606040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assigned batches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336792" y="3072384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 txBox="1"/>
          <p:nvPr/>
        </p:nvSpPr>
        <p:spPr>
          <a:xfrm>
            <a:off x="6483096" y="2999232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Record session attendance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336792" y="3465576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6483096" y="3392424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Conduct and record assessments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336792" y="3858768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6483096" y="3785616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View learner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336792" y="4251960"/>
            <a:ext cx="100584" cy="100584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 txBox="1"/>
          <p:nvPr/>
        </p:nvSpPr>
        <p:spPr>
          <a:xfrm>
            <a:off x="6483096" y="4178808"/>
            <a:ext cx="2286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Submit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SRS — THE SYSTEM SHOULD ALLOW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320040" y="105156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393192" y="1161288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393192" y="116128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978408" y="1124712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Admin can add, update and delete course and batch information.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320040" y="1719072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393192" y="1828800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393192" y="1828800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978408" y="1792224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Admin can add and manage trainer profiles.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20040" y="2386584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393192" y="2496312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 txBox="1"/>
          <p:nvPr/>
        </p:nvSpPr>
        <p:spPr>
          <a:xfrm>
            <a:off x="393192" y="249631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978408" y="2459736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Batches have defined capacity and eligibility criteria.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20040" y="3054096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393192" y="3163824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393192" y="316382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978408" y="3127248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Learners can be enrolled into available batches.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320040" y="3721608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393192" y="3831336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393192" y="3831336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978408" y="3794760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System can check learner eligibility for certification.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20040" y="438912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393192" y="4498848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393192" y="449884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978408" y="4462272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Session schedules can be created and managed.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754880" y="105156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828032" y="1161288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4828032" y="116128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413248" y="1124712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Attendance can be recorded per session per learner.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754880" y="1719072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4828032" y="1828800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4828032" y="1828800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5413248" y="1792224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Assessments and scores can be recorded per learner.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754880" y="2386584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828032" y="2496312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4828032" y="249631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5413248" y="2459736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Certificates can be issued to eligible learners.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754880" y="3054096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4828032" y="3163824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4828032" y="3163824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5413248" y="3127248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Certificate renewals can be tracked.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754880" y="3721608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828032" y="3831336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4828032" y="3831336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5413248" y="3794760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Users can search training and learner information.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754880" y="438912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4828032" y="4498848"/>
            <a:ext cx="502920" cy="329184"/>
          </a:xfrm>
          <a:prstGeom prst="roundRect">
            <a:avLst>
              <a:gd fmla="val 16667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4828032" y="449884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5413248" y="4462272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System can generate training and certification reports.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QUALITY ATTRIBUTES OF THE SYSTEM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320040" y="1051560"/>
            <a:ext cx="2697480" cy="1664208"/>
          </a:xfrm>
          <a:prstGeom prst="roundRect">
            <a:avLst>
              <a:gd fmla="val 82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84632" y="1234440"/>
            <a:ext cx="502920" cy="5029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484632" y="1252728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457200" y="18288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457200" y="212140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system should retrieve training and certification records efficiently.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3172968" y="1051560"/>
            <a:ext cx="2697480" cy="1664208"/>
          </a:xfrm>
          <a:prstGeom prst="roundRect">
            <a:avLst>
              <a:gd fmla="val 82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3337560" y="1234440"/>
            <a:ext cx="502920" cy="5029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3337560" y="1252728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3310128" y="18288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3310128" y="212140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Only authorized users should be able to modify important training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025896" y="1051560"/>
            <a:ext cx="2697480" cy="1664208"/>
          </a:xfrm>
          <a:prstGeom prst="roundRect">
            <a:avLst>
              <a:gd fmla="val 82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6190488" y="1234440"/>
            <a:ext cx="502920" cy="5029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 txBox="1"/>
          <p:nvPr/>
        </p:nvSpPr>
        <p:spPr>
          <a:xfrm>
            <a:off x="6190488" y="1252728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6163056" y="18288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6163056" y="212140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system should maintain accurate and consistent records at all times.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320040" y="2880360"/>
            <a:ext cx="2697480" cy="1664208"/>
          </a:xfrm>
          <a:prstGeom prst="roundRect">
            <a:avLst>
              <a:gd fmla="val 82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84632" y="3063240"/>
            <a:ext cx="502920" cy="5029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484632" y="3081528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457200" y="3657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Usability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457200" y="395020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application should have a simple and easy-to-use interface.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172968" y="2880360"/>
            <a:ext cx="2697480" cy="1664208"/>
          </a:xfrm>
          <a:prstGeom prst="roundRect">
            <a:avLst>
              <a:gd fmla="val 82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3337560" y="3063240"/>
            <a:ext cx="502920" cy="5029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 txBox="1"/>
          <p:nvPr/>
        </p:nvSpPr>
        <p:spPr>
          <a:xfrm>
            <a:off x="3337560" y="3081528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3310128" y="3657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3310128" y="395020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database should handle increasing learners, batches and certificates.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025896" y="2880360"/>
            <a:ext cx="2697480" cy="1664208"/>
          </a:xfrm>
          <a:prstGeom prst="roundRect">
            <a:avLst>
              <a:gd fmla="val 82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190488" y="3063240"/>
            <a:ext cx="502920" cy="502920"/>
          </a:xfrm>
          <a:prstGeom prst="ellipse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6190488" y="3081528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6163056" y="36576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6163056" y="395020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Primary keys, foreign keys and constraints should prevent invalid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CORE ENTITIES IDENTIFIED IN THE PROJECT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Main Entities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320040" y="118872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320040" y="118872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2029968" y="118872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 txBox="1"/>
          <p:nvPr/>
        </p:nvSpPr>
        <p:spPr>
          <a:xfrm>
            <a:off x="2029968" y="118872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3739896" y="118872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 txBox="1"/>
          <p:nvPr/>
        </p:nvSpPr>
        <p:spPr>
          <a:xfrm>
            <a:off x="3739896" y="118872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449824" y="118872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 txBox="1"/>
          <p:nvPr/>
        </p:nvSpPr>
        <p:spPr>
          <a:xfrm>
            <a:off x="5449824" y="118872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7159752" y="118872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 txBox="1"/>
          <p:nvPr/>
        </p:nvSpPr>
        <p:spPr>
          <a:xfrm>
            <a:off x="7159752" y="118872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320040" y="237744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 txBox="1"/>
          <p:nvPr/>
        </p:nvSpPr>
        <p:spPr>
          <a:xfrm>
            <a:off x="320040" y="237744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2029968" y="237744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 txBox="1"/>
          <p:nvPr/>
        </p:nvSpPr>
        <p:spPr>
          <a:xfrm>
            <a:off x="2029968" y="237744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3739896" y="237744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3739896" y="237744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5449824" y="237744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 txBox="1"/>
          <p:nvPr/>
        </p:nvSpPr>
        <p:spPr>
          <a:xfrm>
            <a:off x="5449824" y="237744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7159752" y="237744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 txBox="1"/>
          <p:nvPr/>
        </p:nvSpPr>
        <p:spPr>
          <a:xfrm>
            <a:off x="7159752" y="237744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320040" y="356616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320040" y="356616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029968" y="356616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 txBox="1"/>
          <p:nvPr/>
        </p:nvSpPr>
        <p:spPr>
          <a:xfrm>
            <a:off x="2029968" y="356616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3739896" y="3566160"/>
            <a:ext cx="1600200" cy="1005840"/>
          </a:xfrm>
          <a:prstGeom prst="roundRect">
            <a:avLst>
              <a:gd fmla="val 10909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 txBox="1"/>
          <p:nvPr/>
        </p:nvSpPr>
        <p:spPr>
          <a:xfrm>
            <a:off x="3739896" y="3566160"/>
            <a:ext cx="1600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PROPOSED TABLES, KEYS AND RELATIONSHIPS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Initial Relational Schema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274320" y="105156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274320" y="105156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274320" y="123444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 txBox="1"/>
          <p:nvPr/>
        </p:nvSpPr>
        <p:spPr>
          <a:xfrm>
            <a:off x="274320" y="108813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365760" y="135331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Course_ID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365760" y="155448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Course_Name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365760" y="175564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365760" y="195681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2450592" y="105156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2450592" y="105156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2450592" y="123444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 txBox="1"/>
          <p:nvPr/>
        </p:nvSpPr>
        <p:spPr>
          <a:xfrm>
            <a:off x="2450592" y="108813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 txBox="1"/>
          <p:nvPr/>
        </p:nvSpPr>
        <p:spPr>
          <a:xfrm>
            <a:off x="2542032" y="135331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Module_ID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2542032" y="155448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Course_ID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2542032" y="175564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Module_Name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2542032" y="195681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626864" y="105156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4626864" y="105156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4626864" y="123444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 txBox="1"/>
          <p:nvPr/>
        </p:nvSpPr>
        <p:spPr>
          <a:xfrm>
            <a:off x="4626864" y="108813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4718304" y="135331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Trainer_ID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 txBox="1"/>
          <p:nvPr/>
        </p:nvSpPr>
        <p:spPr>
          <a:xfrm>
            <a:off x="4718304" y="155448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4718304" y="175564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4718304" y="195681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Specialization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6803136" y="105156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6803136" y="105156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6803136" y="123444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 txBox="1"/>
          <p:nvPr/>
        </p:nvSpPr>
        <p:spPr>
          <a:xfrm>
            <a:off x="6803136" y="108813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 txBox="1"/>
          <p:nvPr/>
        </p:nvSpPr>
        <p:spPr>
          <a:xfrm>
            <a:off x="6894576" y="135331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Batch_ID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 txBox="1"/>
          <p:nvPr/>
        </p:nvSpPr>
        <p:spPr>
          <a:xfrm>
            <a:off x="6894576" y="155448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Course_ID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 txBox="1"/>
          <p:nvPr/>
        </p:nvSpPr>
        <p:spPr>
          <a:xfrm>
            <a:off x="6894576" y="175564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Trainer_ID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6894576" y="195681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Start_Date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6894576" y="2157984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274320" y="237744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274320" y="237744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274320" y="256032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 txBox="1"/>
          <p:nvPr/>
        </p:nvSpPr>
        <p:spPr>
          <a:xfrm>
            <a:off x="274320" y="24140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365760" y="267919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Learner_ID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365760" y="288036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 txBox="1"/>
          <p:nvPr/>
        </p:nvSpPr>
        <p:spPr>
          <a:xfrm>
            <a:off x="365760" y="308152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 txBox="1"/>
          <p:nvPr/>
        </p:nvSpPr>
        <p:spPr>
          <a:xfrm>
            <a:off x="365760" y="328269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Phone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2450592" y="237744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2450592" y="237744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2450592" y="256032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 txBox="1"/>
          <p:nvPr/>
        </p:nvSpPr>
        <p:spPr>
          <a:xfrm>
            <a:off x="2450592" y="24140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 txBox="1"/>
          <p:nvPr/>
        </p:nvSpPr>
        <p:spPr>
          <a:xfrm>
            <a:off x="2542032" y="267919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Enrol_ID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 txBox="1"/>
          <p:nvPr/>
        </p:nvSpPr>
        <p:spPr>
          <a:xfrm>
            <a:off x="2542032" y="288036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Learner_ID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>
            <a:off x="2542032" y="308152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Batch_ID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 txBox="1"/>
          <p:nvPr/>
        </p:nvSpPr>
        <p:spPr>
          <a:xfrm>
            <a:off x="2542032" y="328269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Enrol_Date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2542032" y="3483864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4626864" y="237744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4626864" y="237744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4626864" y="256032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 txBox="1"/>
          <p:nvPr/>
        </p:nvSpPr>
        <p:spPr>
          <a:xfrm>
            <a:off x="4626864" y="24140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4718304" y="267919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Session_ID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 txBox="1"/>
          <p:nvPr/>
        </p:nvSpPr>
        <p:spPr>
          <a:xfrm>
            <a:off x="4718304" y="288036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Batch_ID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 txBox="1"/>
          <p:nvPr/>
        </p:nvSpPr>
        <p:spPr>
          <a:xfrm>
            <a:off x="4718304" y="308152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Session_Date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4718304" y="328269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Topic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6803136" y="237744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6803136" y="237744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4"/>
          <p:cNvSpPr/>
          <p:nvPr/>
        </p:nvSpPr>
        <p:spPr>
          <a:xfrm>
            <a:off x="6803136" y="256032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 txBox="1"/>
          <p:nvPr/>
        </p:nvSpPr>
        <p:spPr>
          <a:xfrm>
            <a:off x="6803136" y="24140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6894576" y="267919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Attend_ID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 txBox="1"/>
          <p:nvPr/>
        </p:nvSpPr>
        <p:spPr>
          <a:xfrm>
            <a:off x="6894576" y="288036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Session_ID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 txBox="1"/>
          <p:nvPr/>
        </p:nvSpPr>
        <p:spPr>
          <a:xfrm>
            <a:off x="6894576" y="308152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Learner_ID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6894576" y="328269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274320" y="370332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274320" y="370332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274320" y="388620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 txBox="1"/>
          <p:nvPr/>
        </p:nvSpPr>
        <p:spPr>
          <a:xfrm>
            <a:off x="274320" y="373989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 txBox="1"/>
          <p:nvPr/>
        </p:nvSpPr>
        <p:spPr>
          <a:xfrm>
            <a:off x="365760" y="400507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Assess_ID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365760" y="420624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Batch_ID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365760" y="440740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Assess_Date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365760" y="460857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Max_Marks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2450592" y="370332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2450592" y="370332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2450592" y="388620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 txBox="1"/>
          <p:nvPr/>
        </p:nvSpPr>
        <p:spPr>
          <a:xfrm>
            <a:off x="2450592" y="373989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 txBox="1"/>
          <p:nvPr/>
        </p:nvSpPr>
        <p:spPr>
          <a:xfrm>
            <a:off x="2542032" y="400507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Score_ID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 txBox="1"/>
          <p:nvPr/>
        </p:nvSpPr>
        <p:spPr>
          <a:xfrm>
            <a:off x="2542032" y="420624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Assess_ID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 txBox="1"/>
          <p:nvPr/>
        </p:nvSpPr>
        <p:spPr>
          <a:xfrm>
            <a:off x="2542032" y="440740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Learner_ID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2542032" y="460857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Marks_Scored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626864" y="370332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4626864" y="370332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4626864" y="388620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 txBox="1"/>
          <p:nvPr/>
        </p:nvSpPr>
        <p:spPr>
          <a:xfrm>
            <a:off x="4626864" y="373989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 txBox="1"/>
          <p:nvPr/>
        </p:nvSpPr>
        <p:spPr>
          <a:xfrm>
            <a:off x="4718304" y="400507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Fee_ID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4718304" y="420624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Learner_ID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4718304" y="440740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4718304" y="460857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Payment_Date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6803136" y="3703320"/>
            <a:ext cx="2029968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6803136" y="3703320"/>
            <a:ext cx="2029968" cy="292608"/>
          </a:xfrm>
          <a:prstGeom prst="roundRect">
            <a:avLst>
              <a:gd fmla="val 31250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6803136" y="3886200"/>
            <a:ext cx="2029968" cy="109728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 txBox="1"/>
          <p:nvPr/>
        </p:nvSpPr>
        <p:spPr>
          <a:xfrm>
            <a:off x="6803136" y="373989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6894576" y="4005072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Cert_ID (PK)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6894576" y="4206240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Learner_ID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6894576" y="4407408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A7A74"/>
                </a:solidFill>
                <a:latin typeface="Calibri"/>
                <a:ea typeface="Calibri"/>
                <a:cs typeface="Calibri"/>
                <a:sym typeface="Calibri"/>
              </a:rPr>
              <a:t>Batch_ID (FK)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/>
        </p:nvSpPr>
        <p:spPr>
          <a:xfrm>
            <a:off x="6894576" y="4608576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Issue_Date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6894576" y="4809744"/>
            <a:ext cx="182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Cert_Number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5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FIVE PHASES FROM ANALYSIS TO REPORTING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Project Planning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274320" y="1097280"/>
            <a:ext cx="1600200" cy="3794760"/>
          </a:xfrm>
          <a:prstGeom prst="roundRect">
            <a:avLst>
              <a:gd fmla="val 857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822960" y="1207008"/>
            <a:ext cx="502920" cy="50292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 txBox="1"/>
          <p:nvPr/>
        </p:nvSpPr>
        <p:spPr>
          <a:xfrm>
            <a:off x="822960" y="1225296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 txBox="1"/>
          <p:nvPr/>
        </p:nvSpPr>
        <p:spPr>
          <a:xfrm>
            <a:off x="347472" y="18288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438912" y="2532888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 txBox="1"/>
          <p:nvPr/>
        </p:nvSpPr>
        <p:spPr>
          <a:xfrm>
            <a:off x="576072" y="245059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Identify users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38912" y="3063240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576072" y="298094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Identify entities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438912" y="3593592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 txBox="1"/>
          <p:nvPr/>
        </p:nvSpPr>
        <p:spPr>
          <a:xfrm>
            <a:off x="576072" y="35112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Define requirements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438912" y="4123944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 txBox="1"/>
          <p:nvPr/>
        </p:nvSpPr>
        <p:spPr>
          <a:xfrm>
            <a:off x="576072" y="40416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Define project scope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2011680" y="1097280"/>
            <a:ext cx="1600200" cy="37947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2560320" y="1207008"/>
            <a:ext cx="502920" cy="50292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 txBox="1"/>
          <p:nvPr/>
        </p:nvSpPr>
        <p:spPr>
          <a:xfrm>
            <a:off x="2560320" y="1225296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 txBox="1"/>
          <p:nvPr/>
        </p:nvSpPr>
        <p:spPr>
          <a:xfrm>
            <a:off x="2084832" y="18288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2176272" y="2532888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 txBox="1"/>
          <p:nvPr/>
        </p:nvSpPr>
        <p:spPr>
          <a:xfrm>
            <a:off x="2313432" y="245059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ER diagram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2176272" y="3063240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 txBox="1"/>
          <p:nvPr/>
        </p:nvSpPr>
        <p:spPr>
          <a:xfrm>
            <a:off x="2313432" y="298094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Relational schema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2176272" y="3593592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 txBox="1"/>
          <p:nvPr/>
        </p:nvSpPr>
        <p:spPr>
          <a:xfrm>
            <a:off x="2313432" y="35112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Functional dependencies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2176272" y="4123944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2313432" y="40416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749040" y="1097280"/>
            <a:ext cx="1600200" cy="3794760"/>
          </a:xfrm>
          <a:prstGeom prst="roundRect">
            <a:avLst>
              <a:gd fmla="val 857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4297680" y="1207008"/>
            <a:ext cx="502920" cy="50292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 txBox="1"/>
          <p:nvPr/>
        </p:nvSpPr>
        <p:spPr>
          <a:xfrm>
            <a:off x="4297680" y="1225296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 txBox="1"/>
          <p:nvPr/>
        </p:nvSpPr>
        <p:spPr>
          <a:xfrm>
            <a:off x="3822192" y="18288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3913632" y="2532888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4050792" y="245059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Create tables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3913632" y="3063240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 txBox="1"/>
          <p:nvPr/>
        </p:nvSpPr>
        <p:spPr>
          <a:xfrm>
            <a:off x="4050792" y="298094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Add constraints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3913632" y="3593592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 txBox="1"/>
          <p:nvPr/>
        </p:nvSpPr>
        <p:spPr>
          <a:xfrm>
            <a:off x="4050792" y="35112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Insert sample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3913632" y="4123944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 txBox="1"/>
          <p:nvPr/>
        </p:nvSpPr>
        <p:spPr>
          <a:xfrm>
            <a:off x="4050792" y="40416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Write SQL queries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5486400" y="1097280"/>
            <a:ext cx="1600200" cy="37947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6035040" y="1207008"/>
            <a:ext cx="502920" cy="50292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 txBox="1"/>
          <p:nvPr/>
        </p:nvSpPr>
        <p:spPr>
          <a:xfrm>
            <a:off x="6035040" y="1225296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 txBox="1"/>
          <p:nvPr/>
        </p:nvSpPr>
        <p:spPr>
          <a:xfrm>
            <a:off x="5559552" y="18288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5650992" y="2532888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 txBox="1"/>
          <p:nvPr/>
        </p:nvSpPr>
        <p:spPr>
          <a:xfrm>
            <a:off x="5788152" y="245059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Develop Python 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5650992" y="3063240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 txBox="1"/>
          <p:nvPr/>
        </p:nvSpPr>
        <p:spPr>
          <a:xfrm>
            <a:off x="5788152" y="298094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Connect to database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5650992" y="3593592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 txBox="1"/>
          <p:nvPr/>
        </p:nvSpPr>
        <p:spPr>
          <a:xfrm>
            <a:off x="5788152" y="35112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CRUD operations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5650992" y="4123944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 txBox="1"/>
          <p:nvPr/>
        </p:nvSpPr>
        <p:spPr>
          <a:xfrm>
            <a:off x="5788152" y="40416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7223760" y="1097280"/>
            <a:ext cx="1600200" cy="3794760"/>
          </a:xfrm>
          <a:prstGeom prst="roundRect">
            <a:avLst>
              <a:gd fmla="val 8571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7772400" y="1207008"/>
            <a:ext cx="502920" cy="50292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 txBox="1"/>
          <p:nvPr/>
        </p:nvSpPr>
        <p:spPr>
          <a:xfrm>
            <a:off x="7772400" y="1225296"/>
            <a:ext cx="502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 txBox="1"/>
          <p:nvPr/>
        </p:nvSpPr>
        <p:spPr>
          <a:xfrm>
            <a:off x="7296912" y="18288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7388352" y="2532888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5"/>
          <p:cNvSpPr txBox="1"/>
          <p:nvPr/>
        </p:nvSpPr>
        <p:spPr>
          <a:xfrm>
            <a:off x="7525512" y="245059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Test database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7388352" y="3063240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5"/>
          <p:cNvSpPr txBox="1"/>
          <p:nvPr/>
        </p:nvSpPr>
        <p:spPr>
          <a:xfrm>
            <a:off x="7525512" y="298094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Test application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7388352" y="3593592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5"/>
          <p:cNvSpPr txBox="1"/>
          <p:nvPr/>
        </p:nvSpPr>
        <p:spPr>
          <a:xfrm>
            <a:off x="7525512" y="35112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Generate reports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7388352" y="4123944"/>
            <a:ext cx="91440" cy="91440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 txBox="1"/>
          <p:nvPr/>
        </p:nvSpPr>
        <p:spPr>
          <a:xfrm>
            <a:off x="7525512" y="40416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Prepare documentation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6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ASSESSMENT STRUCTURE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Review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320040" y="1051560"/>
            <a:ext cx="2724912" cy="3886200"/>
          </a:xfrm>
          <a:prstGeom prst="roundRect">
            <a:avLst>
              <a:gd fmla="val 503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320040" y="1051560"/>
            <a:ext cx="2724912" cy="1005840"/>
          </a:xfrm>
          <a:prstGeom prst="roundRect">
            <a:avLst>
              <a:gd fmla="val 13636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6"/>
          <p:cNvSpPr/>
          <p:nvPr/>
        </p:nvSpPr>
        <p:spPr>
          <a:xfrm>
            <a:off x="320040" y="1645920"/>
            <a:ext cx="2724912" cy="411480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"/>
          <p:cNvSpPr txBox="1"/>
          <p:nvPr/>
        </p:nvSpPr>
        <p:spPr>
          <a:xfrm>
            <a:off x="457200" y="10972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457200" y="1435608"/>
            <a:ext cx="822960" cy="219456"/>
          </a:xfrm>
          <a:prstGeom prst="roundRect">
            <a:avLst>
              <a:gd fmla="val 16667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 txBox="1"/>
          <p:nvPr/>
        </p:nvSpPr>
        <p:spPr>
          <a:xfrm>
            <a:off x="457200" y="14356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1371600" y="1444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5 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457200" y="214884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Problem Identification &amp;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484632" y="263347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6"/>
          <p:cNvSpPr txBox="1"/>
          <p:nvPr/>
        </p:nvSpPr>
        <p:spPr>
          <a:xfrm>
            <a:off x="649224" y="256032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Problem identification, scope, objectives, users and functional requirements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484632" y="338328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6"/>
          <p:cNvSpPr txBox="1"/>
          <p:nvPr/>
        </p:nvSpPr>
        <p:spPr>
          <a:xfrm>
            <a:off x="649224" y="3310128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Conceptual ER diagram covering all principal entities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484632" y="413308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 txBox="1"/>
          <p:nvPr/>
        </p:nvSpPr>
        <p:spPr>
          <a:xfrm>
            <a:off x="649224" y="4059936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Initial relational schema with proposed tables and primary keys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3182112" y="1051560"/>
            <a:ext cx="2724912" cy="3886200"/>
          </a:xfrm>
          <a:prstGeom prst="roundRect">
            <a:avLst>
              <a:gd fmla="val 503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6"/>
          <p:cNvSpPr/>
          <p:nvPr/>
        </p:nvSpPr>
        <p:spPr>
          <a:xfrm>
            <a:off x="3182112" y="1051560"/>
            <a:ext cx="2724912" cy="1005840"/>
          </a:xfrm>
          <a:prstGeom prst="roundRect">
            <a:avLst>
              <a:gd fmla="val 13636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6"/>
          <p:cNvSpPr/>
          <p:nvPr/>
        </p:nvSpPr>
        <p:spPr>
          <a:xfrm>
            <a:off x="3182112" y="1645920"/>
            <a:ext cx="2724912" cy="411480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 txBox="1"/>
          <p:nvPr/>
        </p:nvSpPr>
        <p:spPr>
          <a:xfrm>
            <a:off x="3319272" y="10972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3319272" y="1435608"/>
            <a:ext cx="822960" cy="219456"/>
          </a:xfrm>
          <a:prstGeom prst="roundRect">
            <a:avLst>
              <a:gd fmla="val 16667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 txBox="1"/>
          <p:nvPr/>
        </p:nvSpPr>
        <p:spPr>
          <a:xfrm>
            <a:off x="3319272" y="14356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4233672" y="1444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5 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3319272" y="214884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Implementation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3346704" y="263347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 txBox="1"/>
          <p:nvPr/>
        </p:nvSpPr>
        <p:spPr>
          <a:xfrm>
            <a:off x="3511296" y="256032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Normalized database design up to 3NF with functional dependencies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3346704" y="338328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 txBox="1"/>
          <p:nvPr/>
        </p:nvSpPr>
        <p:spPr>
          <a:xfrm>
            <a:off x="3511296" y="3310128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DDL scripts with integrity constraints and sample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3346704" y="413308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 txBox="1"/>
          <p:nvPr/>
        </p:nvSpPr>
        <p:spPr>
          <a:xfrm>
            <a:off x="3511296" y="4059936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SQL queries demonstrating joins, subqueries, aggregation and 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6044184" y="1051560"/>
            <a:ext cx="2724912" cy="3886200"/>
          </a:xfrm>
          <a:prstGeom prst="roundRect">
            <a:avLst>
              <a:gd fmla="val 503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6044184" y="1051560"/>
            <a:ext cx="2724912" cy="1005840"/>
          </a:xfrm>
          <a:prstGeom prst="roundRect">
            <a:avLst>
              <a:gd fmla="val 13636" name="adj"/>
            </a:avLst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6044184" y="1645920"/>
            <a:ext cx="2724912" cy="411480"/>
          </a:xfrm>
          <a:prstGeom prst="rect">
            <a:avLst/>
          </a:prstGeom>
          <a:solidFill>
            <a:srgbClr val="1C3F3A"/>
          </a:solidFill>
          <a:ln cap="flat" cmpd="sng" w="12700">
            <a:solidFill>
              <a:srgbClr val="1C3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6"/>
          <p:cNvSpPr txBox="1"/>
          <p:nvPr/>
        </p:nvSpPr>
        <p:spPr>
          <a:xfrm>
            <a:off x="6181344" y="10972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6181344" y="1435608"/>
            <a:ext cx="822960" cy="219456"/>
          </a:xfrm>
          <a:prstGeom prst="roundRect">
            <a:avLst>
              <a:gd fmla="val 16667" name="adj"/>
            </a:avLst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 txBox="1"/>
          <p:nvPr/>
        </p:nvSpPr>
        <p:spPr>
          <a:xfrm>
            <a:off x="6181344" y="14356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 txBox="1"/>
          <p:nvPr/>
        </p:nvSpPr>
        <p:spPr>
          <a:xfrm>
            <a:off x="7095744" y="1444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D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DDDA"/>
                </a:solidFill>
                <a:latin typeface="Calibri"/>
                <a:ea typeface="Calibri"/>
                <a:cs typeface="Calibri"/>
                <a:sym typeface="Calibri"/>
              </a:rPr>
              <a:t>5 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 txBox="1"/>
          <p:nvPr/>
        </p:nvSpPr>
        <p:spPr>
          <a:xfrm>
            <a:off x="6181344" y="214884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Final Demonstration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6208776" y="2633472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 txBox="1"/>
          <p:nvPr/>
        </p:nvSpPr>
        <p:spPr>
          <a:xfrm>
            <a:off x="6373368" y="256032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Java or Python application connected to the database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6208776" y="3383280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6"/>
          <p:cNvSpPr txBox="1"/>
          <p:nvPr/>
        </p:nvSpPr>
        <p:spPr>
          <a:xfrm>
            <a:off x="6373368" y="3310128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demonstration: CRUD operations, search, validation and reports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6208776" y="4133088"/>
            <a:ext cx="109728" cy="109728"/>
          </a:xfrm>
          <a:prstGeom prst="ellipse">
            <a:avLst/>
          </a:prstGeom>
          <a:solidFill>
            <a:srgbClr val="C17F24"/>
          </a:solidFill>
          <a:ln cap="flat" cmpd="sng" w="12700">
            <a:solidFill>
              <a:srgbClr val="C17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6"/>
          <p:cNvSpPr txBox="1"/>
          <p:nvPr/>
        </p:nvSpPr>
        <p:spPr>
          <a:xfrm>
            <a:off x="6373368" y="4059936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Source code, database script, test data, project report and viva-voce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0EE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7"/>
          <p:cNvSpPr txBox="1"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2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7F2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 txBox="1"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A centralized, structured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for training and certification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457200" y="1965960"/>
            <a:ext cx="8229600" cy="118872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7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Training Programme and Certification Management System reduces manual work, improves data consistency, enforces certificate eligibility automatically and makes training information easier to manage and retrieve.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 txBox="1"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F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C3F3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74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