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Database Management System – PBL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57200" y="914400"/>
            <a:ext cx="5029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Training Programme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and Certification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Management System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Review 2 — Week 11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749040"/>
            <a:ext cx="4572000" cy="1097280"/>
          </a:xfrm>
          <a:prstGeom prst="roundRect">
            <a:avLst>
              <a:gd fmla="val 108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640080" y="38404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40080" y="40416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K Anirudh Pratap Singh Sambyal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640080" y="433425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AIML RHINOS  •  25WU0102111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500" y="1405038"/>
            <a:ext cx="4267200" cy="17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WHAT THIS REVIEW COVERS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Review 2 — Agenda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1051560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48640" y="1170432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548640" y="1170432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115568" y="11247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Normalized Database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115568" y="13716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Functional dependencies and normalization up to 3NF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1819656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" y="1938528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548640" y="1938528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115568" y="189280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Data Dictionary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1115568" y="21396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Concise reference for all tables and attributes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2587752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48640" y="2706624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548640" y="2706624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1115568" y="266090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DDL Scripts &amp; Constraints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1115568" y="29077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CREATE TABLE statements with all integrity constraints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3355848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48640" y="3474720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548640" y="3474720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115568" y="34290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Sample Data &amp; SQL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1115568" y="36758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Joins, subqueries, aggregation and views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4123944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48640" y="4242816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548640" y="4242816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1115568" y="419709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Database Prototype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115568" y="44439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Implementation progress and working prototype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NORMALIZATION — STEP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Functional Dependencies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20040" y="1051560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11480" y="1152144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411480" y="115214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1417320" y="1161288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Course_ID → Course_Name, Duration, Category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754880" y="1051560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846320" y="1152144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4846320" y="115214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5852160" y="1161288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Module_ID → Course_ID, Module_Name, Order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0040" y="1709928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11480" y="1810512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411480" y="181051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417320" y="1819656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Trainer_ID → Name, Email, Specialization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754880" y="1709928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846320" y="1810512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4846320" y="181051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5852160" y="1819656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Batch_ID → Course_ID, Trainer_ID, Start_Date, Capacity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0040" y="2368296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11480" y="2468880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411480" y="24688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1417320" y="247802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Learner_ID → Name, Email, Phone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754880" y="2368296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846320" y="2468880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4846320" y="24688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5852160" y="247802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Enrol_ID → Learner_ID, Batch_ID, Enrol_Date, Status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20040" y="3026664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11480" y="3127248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411480" y="312724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1417320" y="3136392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Session_ID → Batch_ID, Session_Date, Topic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754880" y="3026664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846320" y="3127248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4846320" y="312724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5852160" y="3136392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Attend_ID → Session_ID, Learner_ID, Status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20040" y="3685032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11480" y="3785616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411480" y="378561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417320" y="3794760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Assess_ID → Batch_ID, Assess_Date, Max_Marks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754880" y="3685032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846320" y="3785616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4846320" y="378561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5852160" y="3794760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Score_ID → Assess_ID, Learner_ID, Marks_Scored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20040" y="4343400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11480" y="4443984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411480" y="444398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1417320" y="4453128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Fee_ID → Learner_ID, Amount, Payment_Date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754880" y="4343400"/>
            <a:ext cx="4114800" cy="548640"/>
          </a:xfrm>
          <a:prstGeom prst="roundRect">
            <a:avLst>
              <a:gd fmla="val 21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846320" y="4443984"/>
            <a:ext cx="914400" cy="347472"/>
          </a:xfrm>
          <a:prstGeom prst="roundRect">
            <a:avLst>
              <a:gd fmla="val 1578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4846320" y="444398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5852160" y="4453128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Cert_ID → Learner_ID, Batch_ID, Issue_Date, Cert_Number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NORMALIZATION — STEP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1NF → 2NF → 3NF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74320" y="1051560"/>
            <a:ext cx="2743200" cy="3886200"/>
          </a:xfrm>
          <a:prstGeom prst="roundRect">
            <a:avLst>
              <a:gd fmla="val 4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84048" y="1161288"/>
            <a:ext cx="640080" cy="384048"/>
          </a:xfrm>
          <a:prstGeom prst="roundRect">
            <a:avLst>
              <a:gd fmla="val 16667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384048" y="1161288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1NF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365760" y="162763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First Normal 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365760" y="192024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All attributes are atomic. No repeating groups.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02336" y="2560320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566928" y="248716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Each cell holds one value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02336" y="3035808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566928" y="2962656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Every row is unique (primary key defined)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02336" y="3511296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566928" y="343814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multi-valued columns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65760" y="4389120"/>
            <a:ext cx="2560320" cy="320040"/>
          </a:xfrm>
          <a:prstGeom prst="roundRect">
            <a:avLst>
              <a:gd fmla="val 20000" name="adj"/>
            </a:avLst>
          </a:prstGeom>
          <a:solidFill>
            <a:srgbClr val="C17F24">
              <a:alpha val="20000"/>
            </a:srgbClr>
          </a:solidFill>
          <a:ln cap="flat" cmpd="sng" w="12700">
            <a:solidFill>
              <a:srgbClr val="C17F2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365760" y="4389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✓ All 12 tables satisfy 1NF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154680" y="1051560"/>
            <a:ext cx="2743200" cy="3886200"/>
          </a:xfrm>
          <a:prstGeom prst="roundRect">
            <a:avLst>
              <a:gd fmla="val 4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264408" y="1161288"/>
            <a:ext cx="640080" cy="384048"/>
          </a:xfrm>
          <a:prstGeom prst="roundRect">
            <a:avLst>
              <a:gd fmla="val 16667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3264408" y="1161288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2NF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3246120" y="162763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Second Normal 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3246120" y="192024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partial dependency — every non-key attribute depends on the whole primary key.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282696" y="2560320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3447288" y="248716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ENROLMENT: Learner_ID + Batch_ID → Status (full dependency)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282696" y="3035808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3447288" y="2962656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ATTENDANCE: Session_ID + Learner_ID → Status (full dependency)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282696" y="3511296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3447288" y="343814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SCORE: Assess_ID + Learner_ID → Marks_Scored (full dependency)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246120" y="4389120"/>
            <a:ext cx="2560320" cy="320040"/>
          </a:xfrm>
          <a:prstGeom prst="roundRect">
            <a:avLst>
              <a:gd fmla="val 20000" name="adj"/>
            </a:avLst>
          </a:prstGeom>
          <a:solidFill>
            <a:srgbClr val="C17F24">
              <a:alpha val="20000"/>
            </a:srgbClr>
          </a:solidFill>
          <a:ln cap="flat" cmpd="sng" w="12700">
            <a:solidFill>
              <a:srgbClr val="C17F2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3246120" y="4389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✓ No partial dependencies found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035040" y="1051560"/>
            <a:ext cx="2743200" cy="3886200"/>
          </a:xfrm>
          <a:prstGeom prst="roundRect">
            <a:avLst>
              <a:gd fmla="val 4333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144768" y="1161288"/>
            <a:ext cx="640080" cy="384048"/>
          </a:xfrm>
          <a:prstGeom prst="roundRect">
            <a:avLst>
              <a:gd fmla="val 16667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6144768" y="1161288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3NF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6126480" y="162763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Third Normal 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126480" y="192024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No transitive dependency — non-key attributes depend only on the PK, not on each other.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163056" y="2560320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6327648" y="248716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Course details not stored in BATCH (uses Course_ID FK)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163056" y="3035808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6327648" y="2962656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Trainer details not stored in BATCH (uses Trainer_ID FK)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163056" y="3511296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6327648" y="343814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Learner details not stored in CERTIFICATE (uses Learner_ID FK)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126480" y="4389120"/>
            <a:ext cx="2560320" cy="320040"/>
          </a:xfrm>
          <a:prstGeom prst="roundRect">
            <a:avLst>
              <a:gd fmla="val 20000" name="adj"/>
            </a:avLst>
          </a:prstGeom>
          <a:solidFill>
            <a:srgbClr val="C17F24">
              <a:alpha val="20000"/>
            </a:srgbClr>
          </a:solidFill>
          <a:ln cap="flat" cmpd="sng" w="12700">
            <a:solidFill>
              <a:srgbClr val="C17F2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6126480" y="4389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No transitive dependencies found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CONCISE REFERENCE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Data Dictionary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20040" y="1051560"/>
            <a:ext cx="1005840" cy="29260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365760" y="107899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325880" y="1051560"/>
            <a:ext cx="1280160" cy="29260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1371600" y="1078992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Attribute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606040" y="1051560"/>
            <a:ext cx="1005840" cy="29260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2651760" y="107899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611880" y="1051560"/>
            <a:ext cx="1463040" cy="29260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3657600" y="107899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Constraint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074920" y="1051560"/>
            <a:ext cx="3108960" cy="29260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5120640" y="1078992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20040" y="1344168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365760" y="13898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325880" y="1344168"/>
            <a:ext cx="12801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 txBox="1"/>
          <p:nvPr/>
        </p:nvSpPr>
        <p:spPr>
          <a:xfrm>
            <a:off x="1371600" y="138988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Course_ID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606040" y="1344168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2651760" y="13898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611880" y="1344168"/>
            <a:ext cx="14630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3657600" y="138988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PK, NOT NULL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074920" y="1344168"/>
            <a:ext cx="31089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5120640" y="138988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Unique course identifier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20040" y="1645920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365760" y="16916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325880" y="1645920"/>
            <a:ext cx="12801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1371600" y="169164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Batch_ID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2606040" y="1645920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 txBox="1"/>
          <p:nvPr/>
        </p:nvSpPr>
        <p:spPr>
          <a:xfrm>
            <a:off x="2651760" y="16916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611880" y="1645920"/>
            <a:ext cx="14630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3657600" y="16916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PK, NOT NULL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074920" y="1645920"/>
            <a:ext cx="31089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5120640" y="169164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Unique batch identifier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20040" y="1947672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365760" y="199339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325880" y="1947672"/>
            <a:ext cx="12801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1371600" y="199339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Capacity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2606040" y="1947672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2651760" y="199339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611880" y="1947672"/>
            <a:ext cx="14630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3657600" y="1993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CHECK (&gt;0)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074920" y="1947672"/>
            <a:ext cx="31089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5120640" y="199339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Max learners allowed in batch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20040" y="2249424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365760" y="22951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LEARNER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325880" y="2249424"/>
            <a:ext cx="12801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1371600" y="229514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2606040" y="2249424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2651760" y="22951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VARCHAR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3611880" y="2249424"/>
            <a:ext cx="14630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3657600" y="229514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UNIQUE, NOT NULL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074920" y="2249424"/>
            <a:ext cx="31089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5120640" y="229514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Learner contact email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20040" y="2551176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365760" y="259689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325880" y="2551176"/>
            <a:ext cx="12801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1371600" y="259689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Learner_ID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2606040" y="2551176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2651760" y="259689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611880" y="2551176"/>
            <a:ext cx="14630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3657600" y="25968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FK + UNIQUE pair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074920" y="2551176"/>
            <a:ext cx="31089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5120640" y="259689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duplicate enrolment per batch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20040" y="2852928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 txBox="1"/>
          <p:nvPr/>
        </p:nvSpPr>
        <p:spPr>
          <a:xfrm>
            <a:off x="365760" y="2898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325880" y="2852928"/>
            <a:ext cx="12801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1371600" y="289864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Batch_ID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2606040" y="2852928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2651760" y="2898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611880" y="2852928"/>
            <a:ext cx="14630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3657600" y="28986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FK → BATCH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074920" y="2852928"/>
            <a:ext cx="31089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5120640" y="28986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Links enrolment to batch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20040" y="3154680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365760" y="32004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325880" y="3154680"/>
            <a:ext cx="12801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1371600" y="320040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606040" y="3154680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2651760" y="32004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VARCHAR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611880" y="3154680"/>
            <a:ext cx="14630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3657600" y="32004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CHECK IN list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074920" y="3154680"/>
            <a:ext cx="31089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5120640" y="320040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Present / Absent / Late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320040" y="3456432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365760" y="35021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1325880" y="3456432"/>
            <a:ext cx="12801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1371600" y="35021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Marks_Scored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2606040" y="3456432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2651760" y="35021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3611880" y="3456432"/>
            <a:ext cx="14630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3657600" y="35021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CHECK (0–Max)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074920" y="3456432"/>
            <a:ext cx="31089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5120640" y="350215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Must be within valid range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20040" y="3758184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365760" y="380390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CERTIFICATE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325880" y="3758184"/>
            <a:ext cx="12801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1371600" y="380390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Cert_Number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2606040" y="3758184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2651760" y="380390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VARCHAR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3611880" y="3758184"/>
            <a:ext cx="14630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3657600" y="380390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UNIQUE, NOT NULL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5074920" y="3758184"/>
            <a:ext cx="31089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5120640" y="380390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two certs share a number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20040" y="4059936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365760" y="41056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CERTIFICATE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1325880" y="4059936"/>
            <a:ext cx="12801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1371600" y="410565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Issue_Date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2606040" y="4059936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2651760" y="41056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611880" y="4059936"/>
            <a:ext cx="14630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3657600" y="410565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NOT NULL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074920" y="4059936"/>
            <a:ext cx="31089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5120640" y="410565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Date certificate was issued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320040" y="4361688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365760" y="440740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1325880" y="4361688"/>
            <a:ext cx="12801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1371600" y="440740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Amount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2606040" y="4361688"/>
            <a:ext cx="10058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2651760" y="440740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3611880" y="4361688"/>
            <a:ext cx="146304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3657600" y="44074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CHECK (&gt;0)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074920" y="4361688"/>
            <a:ext cx="3108960" cy="29260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5120640" y="440740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Payment must be positive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320040" y="4663440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 txBox="1"/>
          <p:nvPr/>
        </p:nvSpPr>
        <p:spPr>
          <a:xfrm>
            <a:off x="365760" y="47091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1325880" y="4663440"/>
            <a:ext cx="12801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1371600" y="470916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Specialization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2606040" y="4663440"/>
            <a:ext cx="10058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2651760" y="47091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VARCHAR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3611880" y="4663440"/>
            <a:ext cx="14630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3657600" y="47091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NOT NULL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5074920" y="4663440"/>
            <a:ext cx="310896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5120640" y="470916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Trainer's subject area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DATABASE IMPLEMENTATION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DDL Scripts — Key Tables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BATCH (with capacity constraint)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57200" y="1325880"/>
            <a:ext cx="8229600" cy="1508760"/>
          </a:xfrm>
          <a:prstGeom prst="roundRect">
            <a:avLst>
              <a:gd fmla="val 606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 txBox="1"/>
          <p:nvPr/>
        </p:nvSpPr>
        <p:spPr>
          <a:xfrm>
            <a:off x="640080" y="1399032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BATCH 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Batch_ID     INT PRIMARY KEY,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Course_ID    INT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Trainer_ID   INT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Start_Date   DATE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Capacity     INT CHECK (Capacity &gt; 0),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FOREIGN KEY (Course_ID) REFERENCES COURSE(Course_ID),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FOREIGN KEY (Trainer_ID) REFERENCES TRAINER(Trainer_ID)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457200" y="2971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ENROLMENT (no duplicate enrolment)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57200" y="3246120"/>
            <a:ext cx="8229600" cy="1508760"/>
          </a:xfrm>
          <a:prstGeom prst="roundRect">
            <a:avLst>
              <a:gd fmla="val 606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640080" y="3319272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ENROLMENT 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Enrol_ID    INT PRIMARY KEY,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Learner_ID  INT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Batch_ID    INT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Enrol_Date  DATE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Status      VARCHAR(20) DEFAULT 'Active',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UNIQUE (Learner_ID, Batch_ID),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FOREIGN KEY (Learner_ID) REFERENCES LEARNER(Learner_ID),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FOREIGN KEY (Batch_ID) REFERENCES BATCH(Batch_ID)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INTEGRITY CONSTRAINTS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DDL Scripts — Business Rules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SCORE (valid range) + ATTENDANCE (valid status)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57200" y="1325880"/>
            <a:ext cx="8229600" cy="1508760"/>
          </a:xfrm>
          <a:prstGeom prst="roundRect">
            <a:avLst>
              <a:gd fmla="val 606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 txBox="1"/>
          <p:nvPr/>
        </p:nvSpPr>
        <p:spPr>
          <a:xfrm>
            <a:off x="640080" y="1399032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SCORE 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Score_ID      INT PRIMARY KEY,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Assess_ID     INT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Learner_ID    INT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Marks_Scored  DECIMAL(5,2) CHECK (Marks_Scored &gt;= 0),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FOREIGN KEY (Assess_ID) REFERENCES ASSESSMENT(Assess_ID),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FOREIGN KEY (Learner_ID) REFERENCES LEARNER(Learner_ID)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ATTENDANCE 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Attend_ID   INT PRIMARY KEY,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Session_ID  INT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Learner_ID  INT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Status      VARCHAR(10) CHECK (Status IN ('Present','Absent','Late')),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FOREIGN KEY (Session_ID) REFERENCES SESSION(Session_ID)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457200" y="2971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CERTIFICATE (eligibility + unique number)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57200" y="3246120"/>
            <a:ext cx="8229600" cy="1508760"/>
          </a:xfrm>
          <a:prstGeom prst="roundRect">
            <a:avLst>
              <a:gd fmla="val 606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 txBox="1"/>
          <p:nvPr/>
        </p:nvSpPr>
        <p:spPr>
          <a:xfrm>
            <a:off x="640080" y="3319272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CERTIFICATE 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Cert_ID      INT PRIMARY KEY,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Learner_ID   INT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Batch_ID     INT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Issue_Date   DATE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Cert_Number  VARCHAR(50) UNIQUE NOT NULL,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FOREIGN KEY (Learner_ID) REFERENCES LEARNER(Learner_ID),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FOREIGN KEY (Batch_ID) REFERENCES BATCH(Batch_ID)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SQL QUERIES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Joins and Subqueries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Batch List — learners per batch with trainer 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457200" y="1325880"/>
            <a:ext cx="8229600" cy="1508760"/>
          </a:xfrm>
          <a:prstGeom prst="roundRect">
            <a:avLst>
              <a:gd fmla="val 606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 txBox="1"/>
          <p:nvPr/>
        </p:nvSpPr>
        <p:spPr>
          <a:xfrm>
            <a:off x="640080" y="1399032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SELECT B.Batch_ID, C.Course_Name, T.Name AS Trainer,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COUNT(E.Learner_ID) AS Enrolled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FROM BATCH 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COURSE C ON B.Course_ID = C.Course_ID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TRAINER T ON B.Trainer_ID = T.Trainer_ID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ENROLMENT E ON B.Batch_ID = E.Batch_ID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GROUP BY B.Batch_ID, C.Course_Name, T.Name;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457200" y="2971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Performance — learners scoring above batch average (subquery)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457200" y="3246120"/>
            <a:ext cx="8229600" cy="1508760"/>
          </a:xfrm>
          <a:prstGeom prst="roundRect">
            <a:avLst>
              <a:gd fmla="val 606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 txBox="1"/>
          <p:nvPr/>
        </p:nvSpPr>
        <p:spPr>
          <a:xfrm>
            <a:off x="640080" y="3319272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SELECT L.Name, S.Marks_Scored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FROM SCORE 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LEARNER L ON S.Learner_ID = L.Learner_ID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WHERE S.Marks_Scored &gt; 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SELECT AVG(Marks_Scored) FROM SCORE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WHERE Assess_ID = S.Assess_ID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SQL QUERIES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Aggregation and Views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Trainer Load — sessions and batches assigned per trainer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57200" y="1325880"/>
            <a:ext cx="8229600" cy="1508760"/>
          </a:xfrm>
          <a:prstGeom prst="roundRect">
            <a:avLst>
              <a:gd fmla="val 606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 txBox="1"/>
          <p:nvPr/>
        </p:nvSpPr>
        <p:spPr>
          <a:xfrm>
            <a:off x="640080" y="1399032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SELECT T.Name, COUNT(DISTINCT B.Batch_ID) AS Batches,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COUNT(SE.Session_ID) AS Sessions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FROM TRAINER 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BATCH B ON T.Trainer_ID = B.Trainer_ID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SESSION SE ON B.Batch_ID = SE.Batch_ID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GROUP BY T.Name;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457200" y="2971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View — Certificate Status per Learner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57200" y="3246120"/>
            <a:ext cx="8229600" cy="1508760"/>
          </a:xfrm>
          <a:prstGeom prst="roundRect">
            <a:avLst>
              <a:gd fmla="val 606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 txBox="1"/>
          <p:nvPr/>
        </p:nvSpPr>
        <p:spPr>
          <a:xfrm>
            <a:off x="640080" y="3319272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 CertificateStatus 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SELECT L.Name, C.Course_Name, B.Batch_ID,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     CERT.Cert_Number,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     COALESCE(CERT.Issue_Date, 'Pending') AS Status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FROM LEARNER 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ENROLMENT E ON L.Learner_ID = E.Learner_ID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BATCH B ON E.Batch_ID = B.Batch_ID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COURSE C ON B.Course_ID = C.Course_ID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LEFT JOIN CERTIFICATE CERT ON L.Learner_ID = CERT.Learner_ID;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SQL QUERIES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Attendance and Fee Reports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Attendance — percentage per learner per batch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57200" y="1325880"/>
            <a:ext cx="8229600" cy="1508760"/>
          </a:xfrm>
          <a:prstGeom prst="roundRect">
            <a:avLst>
              <a:gd fmla="val 606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 txBox="1"/>
          <p:nvPr/>
        </p:nvSpPr>
        <p:spPr>
          <a:xfrm>
            <a:off x="640080" y="1399032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SELECT L.Name, B.Batch_ID,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COUNT(CASE WHEN A.Status='Present' THEN 1 END) AS Present,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COUNT(A.Attend_ID) AS Total,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ROUND(COUNT(CASE WHEN A.Status='Present' THEN 1 END)*100.0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/ COUNT(A.Attend_ID), 2) AS Attendance_Pct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FROM ATTENDANCE 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SESSION SE ON A.Session_ID = SE.Session_ID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BATCH B ON SE.Batch_ID = B.Batch_ID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LEARNER L ON A.Learner_ID = L.Learner_ID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GROUP BY L.Name, B.Batch_ID;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 txBox="1"/>
          <p:nvPr/>
        </p:nvSpPr>
        <p:spPr>
          <a:xfrm>
            <a:off x="457200" y="2971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Fee Status — total paid per learner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457200" y="3246120"/>
            <a:ext cx="8229600" cy="1508760"/>
          </a:xfrm>
          <a:prstGeom prst="roundRect">
            <a:avLst>
              <a:gd fmla="val 606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 txBox="1"/>
          <p:nvPr/>
        </p:nvSpPr>
        <p:spPr>
          <a:xfrm>
            <a:off x="640080" y="3319272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SELECT L.Name, SUM(F.Amount) AS Total_Paid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FROM FEE 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JOIN LEARNER L ON F.Learner_ID = L.Learner_ID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GROUP BY L.Name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B8D4CE"/>
                </a:solidFill>
                <a:latin typeface="Courier New"/>
                <a:ea typeface="Courier New"/>
                <a:cs typeface="Courier New"/>
                <a:sym typeface="Courier New"/>
              </a:rPr>
              <a:t>ORDER BY Total_Paid DESC;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SAMPLE 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Populated Tables — Example Records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320040" y="1051560"/>
            <a:ext cx="4206240" cy="274320"/>
          </a:xfrm>
          <a:prstGeom prst="roundRect">
            <a:avLst>
              <a:gd fmla="val 2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 txBox="1"/>
          <p:nvPr/>
        </p:nvSpPr>
        <p:spPr>
          <a:xfrm>
            <a:off x="411480" y="1088136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320040" y="1325880"/>
            <a:ext cx="5943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 txBox="1"/>
          <p:nvPr/>
        </p:nvSpPr>
        <p:spPr>
          <a:xfrm>
            <a:off x="356616" y="1353312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Batch_ID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914400" y="1325880"/>
            <a:ext cx="73152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 txBox="1"/>
          <p:nvPr/>
        </p:nvSpPr>
        <p:spPr>
          <a:xfrm>
            <a:off x="950976" y="135331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Course_ID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1645920" y="1325880"/>
            <a:ext cx="68580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 txBox="1"/>
          <p:nvPr/>
        </p:nvSpPr>
        <p:spPr>
          <a:xfrm>
            <a:off x="1682496" y="1353312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Trainer_ID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2331720" y="1325880"/>
            <a:ext cx="8229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 txBox="1"/>
          <p:nvPr/>
        </p:nvSpPr>
        <p:spPr>
          <a:xfrm>
            <a:off x="2368296" y="1353312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Capacity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320040" y="1581912"/>
            <a:ext cx="5943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 txBox="1"/>
          <p:nvPr/>
        </p:nvSpPr>
        <p:spPr>
          <a:xfrm>
            <a:off x="356616" y="1618488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914400" y="1581912"/>
            <a:ext cx="73152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"/>
          <p:cNvSpPr txBox="1"/>
          <p:nvPr/>
        </p:nvSpPr>
        <p:spPr>
          <a:xfrm>
            <a:off x="950976" y="161848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1645920" y="1581912"/>
            <a:ext cx="68580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 txBox="1"/>
          <p:nvPr/>
        </p:nvSpPr>
        <p:spPr>
          <a:xfrm>
            <a:off x="1682496" y="1618488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2331720" y="1581912"/>
            <a:ext cx="8229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"/>
          <p:cNvSpPr txBox="1"/>
          <p:nvPr/>
        </p:nvSpPr>
        <p:spPr>
          <a:xfrm>
            <a:off x="2368296" y="16184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320040" y="1856232"/>
            <a:ext cx="5943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 txBox="1"/>
          <p:nvPr/>
        </p:nvSpPr>
        <p:spPr>
          <a:xfrm>
            <a:off x="356616" y="1892808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914400" y="1856232"/>
            <a:ext cx="73152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"/>
          <p:cNvSpPr txBox="1"/>
          <p:nvPr/>
        </p:nvSpPr>
        <p:spPr>
          <a:xfrm>
            <a:off x="950976" y="189280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1645920" y="1856232"/>
            <a:ext cx="68580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 txBox="1"/>
          <p:nvPr/>
        </p:nvSpPr>
        <p:spPr>
          <a:xfrm>
            <a:off x="1682496" y="1892808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2331720" y="1856232"/>
            <a:ext cx="8229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"/>
          <p:cNvSpPr txBox="1"/>
          <p:nvPr/>
        </p:nvSpPr>
        <p:spPr>
          <a:xfrm>
            <a:off x="2368296" y="189280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320040" y="2130552"/>
            <a:ext cx="5943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 txBox="1"/>
          <p:nvPr/>
        </p:nvSpPr>
        <p:spPr>
          <a:xfrm>
            <a:off x="356616" y="2167128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B003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914400" y="2130552"/>
            <a:ext cx="73152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 txBox="1"/>
          <p:nvPr/>
        </p:nvSpPr>
        <p:spPr>
          <a:xfrm>
            <a:off x="950976" y="216712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1645920" y="2130552"/>
            <a:ext cx="68580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 txBox="1"/>
          <p:nvPr/>
        </p:nvSpPr>
        <p:spPr>
          <a:xfrm>
            <a:off x="1682496" y="2167128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2331720" y="2130552"/>
            <a:ext cx="8229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"/>
          <p:cNvSpPr txBox="1"/>
          <p:nvPr/>
        </p:nvSpPr>
        <p:spPr>
          <a:xfrm>
            <a:off x="2368296" y="216712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4754880" y="1051560"/>
            <a:ext cx="4206240" cy="274320"/>
          </a:xfrm>
          <a:prstGeom prst="roundRect">
            <a:avLst>
              <a:gd fmla="val 2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 txBox="1"/>
          <p:nvPr/>
        </p:nvSpPr>
        <p:spPr>
          <a:xfrm>
            <a:off x="4846320" y="1088136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4754880" y="1325880"/>
            <a:ext cx="5943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 txBox="1"/>
          <p:nvPr/>
        </p:nvSpPr>
        <p:spPr>
          <a:xfrm>
            <a:off x="4791456" y="1353312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Enrol_ID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5349240" y="1325880"/>
            <a:ext cx="73152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 txBox="1"/>
          <p:nvPr/>
        </p:nvSpPr>
        <p:spPr>
          <a:xfrm>
            <a:off x="5385816" y="135331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Learner_ID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6080760" y="1325880"/>
            <a:ext cx="68580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 txBox="1"/>
          <p:nvPr/>
        </p:nvSpPr>
        <p:spPr>
          <a:xfrm>
            <a:off x="6117336" y="1353312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Batch_ID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6766560" y="1325880"/>
            <a:ext cx="8229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 txBox="1"/>
          <p:nvPr/>
        </p:nvSpPr>
        <p:spPr>
          <a:xfrm>
            <a:off x="6803136" y="1353312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754880" y="1581912"/>
            <a:ext cx="5943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 txBox="1"/>
          <p:nvPr/>
        </p:nvSpPr>
        <p:spPr>
          <a:xfrm>
            <a:off x="4791456" y="1618488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5349240" y="1581912"/>
            <a:ext cx="73152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 txBox="1"/>
          <p:nvPr/>
        </p:nvSpPr>
        <p:spPr>
          <a:xfrm>
            <a:off x="5385816" y="161848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6080760" y="1581912"/>
            <a:ext cx="68580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 txBox="1"/>
          <p:nvPr/>
        </p:nvSpPr>
        <p:spPr>
          <a:xfrm>
            <a:off x="6117336" y="1618488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6766560" y="1581912"/>
            <a:ext cx="8229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 txBox="1"/>
          <p:nvPr/>
        </p:nvSpPr>
        <p:spPr>
          <a:xfrm>
            <a:off x="6803136" y="16184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4754880" y="1856232"/>
            <a:ext cx="5943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 txBox="1"/>
          <p:nvPr/>
        </p:nvSpPr>
        <p:spPr>
          <a:xfrm>
            <a:off x="4791456" y="1892808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5349240" y="1856232"/>
            <a:ext cx="73152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 txBox="1"/>
          <p:nvPr/>
        </p:nvSpPr>
        <p:spPr>
          <a:xfrm>
            <a:off x="5385816" y="189280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6080760" y="1856232"/>
            <a:ext cx="68580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 txBox="1"/>
          <p:nvPr/>
        </p:nvSpPr>
        <p:spPr>
          <a:xfrm>
            <a:off x="6117336" y="1892808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6766560" y="1856232"/>
            <a:ext cx="8229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 txBox="1"/>
          <p:nvPr/>
        </p:nvSpPr>
        <p:spPr>
          <a:xfrm>
            <a:off x="6803136" y="189280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4754880" y="2130552"/>
            <a:ext cx="5943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 txBox="1"/>
          <p:nvPr/>
        </p:nvSpPr>
        <p:spPr>
          <a:xfrm>
            <a:off x="4791456" y="2167128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E003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5349240" y="2130552"/>
            <a:ext cx="73152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 txBox="1"/>
          <p:nvPr/>
        </p:nvSpPr>
        <p:spPr>
          <a:xfrm>
            <a:off x="5385816" y="216712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6080760" y="2130552"/>
            <a:ext cx="68580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 txBox="1"/>
          <p:nvPr/>
        </p:nvSpPr>
        <p:spPr>
          <a:xfrm>
            <a:off x="6117336" y="2167128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6766560" y="2130552"/>
            <a:ext cx="8229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 txBox="1"/>
          <p:nvPr/>
        </p:nvSpPr>
        <p:spPr>
          <a:xfrm>
            <a:off x="6803136" y="216712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320040" y="3017520"/>
            <a:ext cx="4206240" cy="274320"/>
          </a:xfrm>
          <a:prstGeom prst="roundRect">
            <a:avLst>
              <a:gd fmla="val 2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 txBox="1"/>
          <p:nvPr/>
        </p:nvSpPr>
        <p:spPr>
          <a:xfrm>
            <a:off x="411480" y="3054096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320040" y="3291840"/>
            <a:ext cx="5943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 txBox="1"/>
          <p:nvPr/>
        </p:nvSpPr>
        <p:spPr>
          <a:xfrm>
            <a:off x="356616" y="3319272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Score_ID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914400" y="3291840"/>
            <a:ext cx="73152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 txBox="1"/>
          <p:nvPr/>
        </p:nvSpPr>
        <p:spPr>
          <a:xfrm>
            <a:off x="950976" y="331927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Assess_ID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1645920" y="3291840"/>
            <a:ext cx="68580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"/>
          <p:cNvSpPr txBox="1"/>
          <p:nvPr/>
        </p:nvSpPr>
        <p:spPr>
          <a:xfrm>
            <a:off x="1682496" y="3319272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Learner_ID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2331720" y="3291840"/>
            <a:ext cx="8229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 txBox="1"/>
          <p:nvPr/>
        </p:nvSpPr>
        <p:spPr>
          <a:xfrm>
            <a:off x="2368296" y="3319272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Marks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320040" y="3547872"/>
            <a:ext cx="5943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 txBox="1"/>
          <p:nvPr/>
        </p:nvSpPr>
        <p:spPr>
          <a:xfrm>
            <a:off x="356616" y="3584448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SC001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914400" y="3547872"/>
            <a:ext cx="73152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3"/>
          <p:cNvSpPr txBox="1"/>
          <p:nvPr/>
        </p:nvSpPr>
        <p:spPr>
          <a:xfrm>
            <a:off x="950976" y="358444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1645920" y="3547872"/>
            <a:ext cx="68580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 txBox="1"/>
          <p:nvPr/>
        </p:nvSpPr>
        <p:spPr>
          <a:xfrm>
            <a:off x="1682496" y="3584448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2331720" y="3547872"/>
            <a:ext cx="8229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3"/>
          <p:cNvSpPr txBox="1"/>
          <p:nvPr/>
        </p:nvSpPr>
        <p:spPr>
          <a:xfrm>
            <a:off x="2368296" y="358444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82.5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320040" y="3822192"/>
            <a:ext cx="5943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"/>
          <p:cNvSpPr txBox="1"/>
          <p:nvPr/>
        </p:nvSpPr>
        <p:spPr>
          <a:xfrm>
            <a:off x="356616" y="3858768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SC002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914400" y="3822192"/>
            <a:ext cx="73152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3"/>
          <p:cNvSpPr txBox="1"/>
          <p:nvPr/>
        </p:nvSpPr>
        <p:spPr>
          <a:xfrm>
            <a:off x="950976" y="385876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1645920" y="3822192"/>
            <a:ext cx="68580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3"/>
          <p:cNvSpPr txBox="1"/>
          <p:nvPr/>
        </p:nvSpPr>
        <p:spPr>
          <a:xfrm>
            <a:off x="1682496" y="3858768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2331720" y="3822192"/>
            <a:ext cx="8229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 txBox="1"/>
          <p:nvPr/>
        </p:nvSpPr>
        <p:spPr>
          <a:xfrm>
            <a:off x="2368296" y="385876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91.0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320040" y="4096512"/>
            <a:ext cx="5943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 txBox="1"/>
          <p:nvPr/>
        </p:nvSpPr>
        <p:spPr>
          <a:xfrm>
            <a:off x="356616" y="4133088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SC003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914400" y="4096512"/>
            <a:ext cx="73152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 txBox="1"/>
          <p:nvPr/>
        </p:nvSpPr>
        <p:spPr>
          <a:xfrm>
            <a:off x="950976" y="413308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1645920" y="4096512"/>
            <a:ext cx="68580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3"/>
          <p:cNvSpPr txBox="1"/>
          <p:nvPr/>
        </p:nvSpPr>
        <p:spPr>
          <a:xfrm>
            <a:off x="1682496" y="4133088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2331720" y="4096512"/>
            <a:ext cx="8229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3"/>
          <p:cNvSpPr txBox="1"/>
          <p:nvPr/>
        </p:nvSpPr>
        <p:spPr>
          <a:xfrm>
            <a:off x="2368296" y="413308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74.0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4754880" y="3017520"/>
            <a:ext cx="4206240" cy="274320"/>
          </a:xfrm>
          <a:prstGeom prst="roundRect">
            <a:avLst>
              <a:gd fmla="val 2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 txBox="1"/>
          <p:nvPr/>
        </p:nvSpPr>
        <p:spPr>
          <a:xfrm>
            <a:off x="4846320" y="3054096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4754880" y="3291840"/>
            <a:ext cx="5943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"/>
          <p:cNvSpPr txBox="1"/>
          <p:nvPr/>
        </p:nvSpPr>
        <p:spPr>
          <a:xfrm>
            <a:off x="4791456" y="3319272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Cert_ID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5349240" y="3291840"/>
            <a:ext cx="73152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3"/>
          <p:cNvSpPr txBox="1"/>
          <p:nvPr/>
        </p:nvSpPr>
        <p:spPr>
          <a:xfrm>
            <a:off x="5385816" y="331927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Learner_ID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6080760" y="3291840"/>
            <a:ext cx="68580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 txBox="1"/>
          <p:nvPr/>
        </p:nvSpPr>
        <p:spPr>
          <a:xfrm>
            <a:off x="6117336" y="3319272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Batch_ID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6766560" y="3291840"/>
            <a:ext cx="8229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D0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"/>
          <p:cNvSpPr txBox="1"/>
          <p:nvPr/>
        </p:nvSpPr>
        <p:spPr>
          <a:xfrm>
            <a:off x="6803136" y="3319272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Cert_No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4754880" y="3547872"/>
            <a:ext cx="5943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"/>
          <p:cNvSpPr txBox="1"/>
          <p:nvPr/>
        </p:nvSpPr>
        <p:spPr>
          <a:xfrm>
            <a:off x="4791456" y="3584448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CT001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5349240" y="3547872"/>
            <a:ext cx="73152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"/>
          <p:cNvSpPr txBox="1"/>
          <p:nvPr/>
        </p:nvSpPr>
        <p:spPr>
          <a:xfrm>
            <a:off x="5385816" y="358444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6080760" y="3547872"/>
            <a:ext cx="68580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"/>
          <p:cNvSpPr txBox="1"/>
          <p:nvPr/>
        </p:nvSpPr>
        <p:spPr>
          <a:xfrm>
            <a:off x="6117336" y="3584448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6766560" y="3547872"/>
            <a:ext cx="82296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"/>
          <p:cNvSpPr txBox="1"/>
          <p:nvPr/>
        </p:nvSpPr>
        <p:spPr>
          <a:xfrm>
            <a:off x="6803136" y="358444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CERT-2025-001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4754880" y="3822192"/>
            <a:ext cx="5943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3"/>
          <p:cNvSpPr txBox="1"/>
          <p:nvPr/>
        </p:nvSpPr>
        <p:spPr>
          <a:xfrm>
            <a:off x="4791456" y="3858768"/>
            <a:ext cx="521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CT002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5349240" y="3822192"/>
            <a:ext cx="73152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3"/>
          <p:cNvSpPr txBox="1"/>
          <p:nvPr/>
        </p:nvSpPr>
        <p:spPr>
          <a:xfrm>
            <a:off x="5385816" y="385876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6080760" y="3822192"/>
            <a:ext cx="68580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 txBox="1"/>
          <p:nvPr/>
        </p:nvSpPr>
        <p:spPr>
          <a:xfrm>
            <a:off x="6117336" y="3858768"/>
            <a:ext cx="612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6766560" y="3822192"/>
            <a:ext cx="822960" cy="256032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E0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3"/>
          <p:cNvSpPr txBox="1"/>
          <p:nvPr/>
        </p:nvSpPr>
        <p:spPr>
          <a:xfrm>
            <a:off x="6803136" y="3858768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CERT-2025-002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4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IMPLEMENTATION PROGRESS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Database Prototype — What's Built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320040" y="1051560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4"/>
          <p:cNvSpPr txBox="1"/>
          <p:nvPr/>
        </p:nvSpPr>
        <p:spPr>
          <a:xfrm>
            <a:off x="457200" y="1161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 txBox="1"/>
          <p:nvPr/>
        </p:nvSpPr>
        <p:spPr>
          <a:xfrm>
            <a:off x="978408" y="1161288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All 12 Tables Created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 txBox="1"/>
          <p:nvPr/>
        </p:nvSpPr>
        <p:spPr>
          <a:xfrm>
            <a:off x="978408" y="1453896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Full DDL executed in MySQL with PK, FK, CHECK and UNIQUE constraints in place.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4754880" y="1051560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"/>
          <p:cNvSpPr txBox="1"/>
          <p:nvPr/>
        </p:nvSpPr>
        <p:spPr>
          <a:xfrm>
            <a:off x="4892040" y="1161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 txBox="1"/>
          <p:nvPr/>
        </p:nvSpPr>
        <p:spPr>
          <a:xfrm>
            <a:off x="5413248" y="1161288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Sample Data Inserted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 txBox="1"/>
          <p:nvPr/>
        </p:nvSpPr>
        <p:spPr>
          <a:xfrm>
            <a:off x="5413248" y="1453896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Realistic data across COURSE, BATCH, LEARNER, ENROLMENT, SESSION, ATTENDANCE, SCORE, FEE and CERTIFICATE.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320040" y="2350008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 txBox="1"/>
          <p:nvPr/>
        </p:nvSpPr>
        <p:spPr>
          <a:xfrm>
            <a:off x="457200" y="24597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978408" y="245973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SQL Queries Tested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 txBox="1"/>
          <p:nvPr/>
        </p:nvSpPr>
        <p:spPr>
          <a:xfrm>
            <a:off x="978408" y="2752344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Joins, subqueries, aggregation and views all tested and returning correct results.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4754880" y="2350008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4"/>
          <p:cNvSpPr txBox="1"/>
          <p:nvPr/>
        </p:nvSpPr>
        <p:spPr>
          <a:xfrm>
            <a:off x="4892040" y="24597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 txBox="1"/>
          <p:nvPr/>
        </p:nvSpPr>
        <p:spPr>
          <a:xfrm>
            <a:off x="5413248" y="245973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Views Created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 txBox="1"/>
          <p:nvPr/>
        </p:nvSpPr>
        <p:spPr>
          <a:xfrm>
            <a:off x="5413248" y="2752344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CertificateStatus, AttendanceSummary, and TrainerLoad views are working.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320040" y="3648456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4"/>
          <p:cNvSpPr txBox="1"/>
          <p:nvPr/>
        </p:nvSpPr>
        <p:spPr>
          <a:xfrm>
            <a:off x="457200" y="37581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 txBox="1"/>
          <p:nvPr/>
        </p:nvSpPr>
        <p:spPr>
          <a:xfrm>
            <a:off x="978408" y="375818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Python App — In Progress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978408" y="4050792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Database connected via mysql-connector-python. CRUD operations for core modules underway.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4754880" y="3648456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4"/>
          <p:cNvSpPr txBox="1"/>
          <p:nvPr/>
        </p:nvSpPr>
        <p:spPr>
          <a:xfrm>
            <a:off x="4892040" y="37581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 txBox="1"/>
          <p:nvPr/>
        </p:nvSpPr>
        <p:spPr>
          <a:xfrm>
            <a:off x="5413248" y="375818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Reporting Module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 txBox="1"/>
          <p:nvPr/>
        </p:nvSpPr>
        <p:spPr>
          <a:xfrm>
            <a:off x="5413248" y="4050792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Report generation for batch lists, performance, fees and certificate status — planned for Review 3.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LOOKING AHEAD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Review 3 — Plan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457200" y="1051560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548640" y="1170432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5"/>
          <p:cNvSpPr txBox="1"/>
          <p:nvPr/>
        </p:nvSpPr>
        <p:spPr>
          <a:xfrm>
            <a:off x="548640" y="1170432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 txBox="1"/>
          <p:nvPr/>
        </p:nvSpPr>
        <p:spPr>
          <a:xfrm>
            <a:off x="1115568" y="112471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Python 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 txBox="1"/>
          <p:nvPr/>
        </p:nvSpPr>
        <p:spPr>
          <a:xfrm>
            <a:off x="1115568" y="138074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Full app connected to MySQL via VS Code — course/batch setup, enrolment, scheduling, attendance, assessment, payment, certificate issue.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457200" y="1819656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548640" y="1938528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 txBox="1"/>
          <p:nvPr/>
        </p:nvSpPr>
        <p:spPr>
          <a:xfrm>
            <a:off x="548640" y="1938528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 txBox="1"/>
          <p:nvPr/>
        </p:nvSpPr>
        <p:spPr>
          <a:xfrm>
            <a:off x="1115568" y="18928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CRUD Operations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 txBox="1"/>
          <p:nvPr/>
        </p:nvSpPr>
        <p:spPr>
          <a:xfrm>
            <a:off x="1115568" y="21488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Create, Read, Update, Delete for all major entities with input validation and error handling.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457200" y="2587752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548640" y="2706624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 txBox="1"/>
          <p:nvPr/>
        </p:nvSpPr>
        <p:spPr>
          <a:xfrm>
            <a:off x="548640" y="2706624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 txBox="1"/>
          <p:nvPr/>
        </p:nvSpPr>
        <p:spPr>
          <a:xfrm>
            <a:off x="1115568" y="266090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Search &amp; Filtering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 txBox="1"/>
          <p:nvPr/>
        </p:nvSpPr>
        <p:spPr>
          <a:xfrm>
            <a:off x="1115568" y="291693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Search learners, batches, certificates by name, batch ID, status, date range.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457200" y="3355848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548640" y="3474720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 txBox="1"/>
          <p:nvPr/>
        </p:nvSpPr>
        <p:spPr>
          <a:xfrm>
            <a:off x="548640" y="3474720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 txBox="1"/>
          <p:nvPr/>
        </p:nvSpPr>
        <p:spPr>
          <a:xfrm>
            <a:off x="1115568" y="342900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Reports &amp; Output Screens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 txBox="1"/>
          <p:nvPr/>
        </p:nvSpPr>
        <p:spPr>
          <a:xfrm>
            <a:off x="1115568" y="368503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Printable reports for batch lists, attendance %, performance, fee status, and certificates.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457200" y="4123944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548640" y="4242816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 txBox="1"/>
          <p:nvPr/>
        </p:nvSpPr>
        <p:spPr>
          <a:xfrm>
            <a:off x="548640" y="4242816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 txBox="1"/>
          <p:nvPr/>
        </p:nvSpPr>
        <p:spPr>
          <a:xfrm>
            <a:off x="1115568" y="419709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Final Documentation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 txBox="1"/>
          <p:nvPr/>
        </p:nvSpPr>
        <p:spPr>
          <a:xfrm>
            <a:off x="1115568" y="445312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Source code, database script, test data, output screenshots, and project report submitted.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6"/>
          <p:cNvSpPr txBox="1"/>
          <p:nvPr/>
        </p:nvSpPr>
        <p:spPr>
          <a:xfrm>
            <a:off x="457200" y="6400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 txBox="1"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Normalized. Constrained.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Ready for implementation.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457200" y="1965960"/>
            <a:ext cx="8229600" cy="1051560"/>
          </a:xfrm>
          <a:prstGeom prst="roundRect">
            <a:avLst>
              <a:gd fmla="val 1130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6"/>
          <p:cNvSpPr txBox="1"/>
          <p:nvPr/>
        </p:nvSpPr>
        <p:spPr>
          <a:xfrm>
            <a:off x="685800" y="2084832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database is fully normalized to 3NF, all integrity constraints are in place, SQL queries are tested, and the Python application is underway. Review 3 will deliver the complete working system.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 txBox="1"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K Anirudh Pratap Singh Sambyal  •  AIML RHINOS  •  25WU0102111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